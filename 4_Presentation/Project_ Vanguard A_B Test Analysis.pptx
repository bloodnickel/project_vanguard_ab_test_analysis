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Newsread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Newsreader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ewsreader-italic.fntdata"/><Relationship Id="rId25" Type="http://schemas.openxmlformats.org/officeDocument/2006/relationships/font" Target="fonts/Newsreader-bold.fntdata"/><Relationship Id="rId27" Type="http://schemas.openxmlformats.org/officeDocument/2006/relationships/font" Target="fonts/Newsread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b13ac91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SLIDE 1 — INTRO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Good morning everyone, and thank you for being here.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We are Northbridge Digital Consulting, and for this project, Vanguard asked 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to evaluate whether their redesigned digital interface should be rolled out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users.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The objective of this analysis was not only to determine whether the new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interface improves completion rates, but also whether it provides a genuinely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better user experience.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Throughout this presentation, we will show that although the new interface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improves completion performance, the user journey itself becomes significantly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more friction-heavy, especially for older and more valuable clients.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Husseim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Who we are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what our company is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team members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 lang="de">
                <a:solidFill>
                  <a:srgbClr val="1D1C1D"/>
                </a:solidFill>
              </a:rPr>
              <a:t>Who we are:</a:t>
            </a:r>
            <a:endParaRPr>
              <a:solidFill>
                <a:srgbClr val="1D1C1D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○"/>
            </a:pPr>
            <a:r>
              <a:rPr lang="de">
                <a:solidFill>
                  <a:srgbClr val="1D1C1D"/>
                </a:solidFill>
              </a:rPr>
              <a:t>Digital strategy &amp; UX analytics consulting</a:t>
            </a:r>
            <a:endParaRPr>
              <a:solidFill>
                <a:srgbClr val="1D1C1D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○"/>
            </a:pPr>
            <a:r>
              <a:rPr lang="de">
                <a:solidFill>
                  <a:srgbClr val="1D1C1D"/>
                </a:solidFill>
              </a:rPr>
              <a:t>Specialized in data-driven product decisions</a:t>
            </a:r>
            <a:endParaRPr>
              <a:solidFill>
                <a:srgbClr val="1D1C1D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 lang="de">
                <a:solidFill>
                  <a:srgbClr val="1D1C1D"/>
                </a:solidFill>
              </a:rPr>
              <a:t>What we do:</a:t>
            </a:r>
            <a:endParaRPr>
              <a:solidFill>
                <a:srgbClr val="1D1C1D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○"/>
            </a:pPr>
            <a:r>
              <a:rPr lang="de">
                <a:solidFill>
                  <a:srgbClr val="1D1C1D"/>
                </a:solidFill>
              </a:rPr>
              <a:t>A/B testing analysis</a:t>
            </a:r>
            <a:endParaRPr>
              <a:solidFill>
                <a:srgbClr val="1D1C1D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○"/>
            </a:pPr>
            <a:r>
              <a:rPr lang="de">
                <a:solidFill>
                  <a:srgbClr val="1D1C1D"/>
                </a:solidFill>
              </a:rPr>
              <a:t>Customer behavior insights</a:t>
            </a:r>
            <a:endParaRPr>
              <a:solidFill>
                <a:srgbClr val="1D1C1D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○"/>
            </a:pPr>
            <a:r>
              <a:rPr lang="de">
                <a:solidFill>
                  <a:srgbClr val="1D1C1D"/>
                </a:solidFill>
              </a:rPr>
              <a:t>Product optimization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db13ac913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b13ac913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SLIDE 2 — BUSINESS CONTEXT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Vanguard is one of the world’s largest investment management companies,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offering digital tools that allow clients to manage investments and financial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portfolios online.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Vanguard recently introduced a redesigned interface and conducted an A/B test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comparing the old and new versions.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The key business question was simple: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“Does the redesigned interface actually perform better than the current one?”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To answer that question, we focused on two dimensions: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First, performance — meaning whether users complete the process.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And second, user experience — meaning how users navigate through the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process.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Husseim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3. BUSINESS PROBLEM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Aquí defines TODO el proyecto.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Slide: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Vanguard launched a redesigned digital interface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Objective: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Improve completion of digital processes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Key question: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Should Vanguard roll out the new experience?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Define también friction (clave):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Friction = non-linear navigation: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Backtracking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Repeated steps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Step jumps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A/B Test Design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Control → Traditional interface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Test → Redesigned interface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Unit of Analysis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• Sessions that started the process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Main KPIs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• Completion Rate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• Friction Rate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• Backtracking &amp; Repeated Steps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• Time &amp; Efficiency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:speech_balloon: Aquí metes ya el framing importante: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“Higher completion is good — but not if it comes with worse user experience.”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db13ac913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c56ae57e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c56ae57e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SLIDE 3 — EXPERIMENT SETUP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The experiment compared two groups.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The Control group used the current interface, while the Test group used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redesigned version.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Our analysis only focused on users who actually started the process, because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sessions that never entered the flow cannot meaningfully evaluate the interface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itself.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We analyzed several KPIs related to completion, friction, and efficiency.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In particular, we focused on behaviors such as backtracking — meaning users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moving backwards through steps — and repeated steps, where users revisit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same step multiple times.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These metrics allow us to understand not only whether users finish, but also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how smooth or complex the journey feels.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Husseim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A/B Test Design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Control → Traditional interface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Test → Redesigned interface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Unit of Analysis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• Sessions that started the process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Main KPIs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• Completion Rate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• Friction Rate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• Backtracking &amp; Repeated Steps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• Time &amp; Efficiency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b13ac913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yellow segments are the ones to protect.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800">
                <a:solidFill>
                  <a:srgbClr val="595959"/>
                </a:solidFill>
              </a:rPr>
              <a:t>Key Insight: Client value increases with age,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800">
                <a:solidFill>
                  <a:srgbClr val="595959"/>
                </a:solidFill>
              </a:rPr>
              <a:t>with 51–70 representing the largest share of total balance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3" name="Google Shape;93;g3db13ac913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c56ae57e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c56ae57e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800">
                <a:solidFill>
                  <a:srgbClr val="595959"/>
                </a:solidFill>
              </a:rPr>
              <a:t>Completion Rate: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800">
                <a:solidFill>
                  <a:srgbClr val="595959"/>
                </a:solidFill>
              </a:rPr>
              <a:t>Control: 48.26%  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800">
                <a:solidFill>
                  <a:srgbClr val="595959"/>
                </a:solidFill>
              </a:rPr>
              <a:t>Test: 54.07%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800">
                <a:solidFill>
                  <a:srgbClr val="595959"/>
                </a:solidFill>
              </a:rPr>
              <a:t>+5.81 percentage points  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595959"/>
                </a:solidFill>
              </a:rPr>
              <a:t>Completion Rate difference is statistically significant (p &lt; 0.0001)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595959"/>
                </a:solidFill>
              </a:rPr>
              <a:t>// Optional text for slide: -&gt;</a:t>
            </a:r>
            <a:br>
              <a:rPr lang="de" sz="800">
                <a:solidFill>
                  <a:srgbClr val="595959"/>
                </a:solidFill>
              </a:rPr>
            </a:br>
            <a:r>
              <a:rPr lang="de" sz="800">
                <a:solidFill>
                  <a:srgbClr val="595959"/>
                </a:solidFill>
              </a:rPr>
              <a:t>First Results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595959"/>
                </a:solidFill>
              </a:rPr>
              <a:t>Where does the improvement come from?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595959"/>
                </a:solidFill>
              </a:rPr>
              <a:t>• Completion increases in Test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595959"/>
                </a:solidFill>
              </a:rPr>
              <a:t>• Most of the uplift comes from friction-heavy journeys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595959"/>
                </a:solidFill>
              </a:rPr>
              <a:t>Efficiency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595959"/>
                </a:solidFill>
              </a:rPr>
              <a:t>• Faster completion time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595959"/>
                </a:solidFill>
              </a:rPr>
              <a:t>• Same number of steps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595959"/>
                </a:solidFill>
              </a:rPr>
              <a:t>Key Insight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595959"/>
                </a:solidFill>
              </a:rPr>
              <a:t>Faster ≠ simpler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c56ae57e6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c56ae57e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c56ae57e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c56ae57e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c56ae57e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c56ae57e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c56ae57e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c56ae57e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Improving performance means nothing if user trust is lost along the journey.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c56ae57e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c56ae57e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bloodnickel/Project_Vanguard_AB_Test_Analysis" TargetMode="External"/><Relationship Id="rId4" Type="http://schemas.openxmlformats.org/officeDocument/2006/relationships/hyperlink" Target="https://public.tableau.com/app/profile/husseim.stuck/viz/VisualizationsBootcamp/Dashboard1?publish=yes" TargetMode="External"/><Relationship Id="rId5" Type="http://schemas.openxmlformats.org/officeDocument/2006/relationships/hyperlink" Target="https://public.tableau.com/app/profile/husseim.stuck/viz/ClientKPI/Dashboard1?publish=yes" TargetMode="External"/><Relationship Id="rId6" Type="http://schemas.openxmlformats.org/officeDocument/2006/relationships/hyperlink" Target="https://public.tableau.com/app/profile/mykyta.riabchynskyi/viz/Book555_17780734185880/Dashboard2?publish=yes" TargetMode="External"/><Relationship Id="rId7" Type="http://schemas.openxmlformats.org/officeDocument/2006/relationships/hyperlink" Target="https://trello.com/invite/b/69fb6114c784560b1731f115/ATTI59d93f6913fb65515cee5baadf2616673F006D66/vanguard-a-b-testing" TargetMode="External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Northbridge logo.png"/>
          <p:cNvPicPr preferRelativeResize="0"/>
          <p:nvPr/>
        </p:nvPicPr>
        <p:blipFill rotWithShape="1">
          <a:blip r:embed="rId3">
            <a:alphaModFix/>
          </a:blip>
          <a:srcRect b="0" l="0" r="0" t="78789"/>
          <a:stretch/>
        </p:blipFill>
        <p:spPr>
          <a:xfrm>
            <a:off x="0" y="4527825"/>
            <a:ext cx="9424950" cy="12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Northbridge logo.png"/>
          <p:cNvPicPr preferRelativeResize="0"/>
          <p:nvPr/>
        </p:nvPicPr>
        <p:blipFill rotWithShape="1">
          <a:blip r:embed="rId3">
            <a:alphaModFix/>
          </a:blip>
          <a:srcRect b="8105" l="0" r="0" t="0"/>
          <a:stretch/>
        </p:blipFill>
        <p:spPr>
          <a:xfrm>
            <a:off x="0" y="-1681800"/>
            <a:ext cx="9424950" cy="63450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71400" y="3482433"/>
            <a:ext cx="840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de" sz="4000" u="none" cap="none" strike="noStrike">
                <a:solidFill>
                  <a:srgbClr val="D5A663"/>
                </a:solidFill>
                <a:latin typeface="Newsreader"/>
                <a:ea typeface="Newsreader"/>
                <a:cs typeface="Newsreader"/>
                <a:sym typeface="Newsreader"/>
              </a:rPr>
              <a:t>Vanguard Digital</a:t>
            </a:r>
            <a:br>
              <a:rPr i="0" lang="de" sz="900" u="none" cap="none" strike="noStrike">
                <a:solidFill>
                  <a:srgbClr val="D5A663"/>
                </a:solidFill>
                <a:latin typeface="Newsreader"/>
                <a:ea typeface="Newsreader"/>
                <a:cs typeface="Newsreader"/>
                <a:sym typeface="Newsreader"/>
              </a:rPr>
            </a:br>
            <a:r>
              <a:rPr i="0" lang="de" sz="4000" u="none" cap="none" strike="noStrike">
                <a:solidFill>
                  <a:srgbClr val="D5A663"/>
                </a:solidFill>
                <a:latin typeface="Newsreader"/>
                <a:ea typeface="Newsreader"/>
                <a:cs typeface="Newsreader"/>
                <a:sym typeface="Newsreader"/>
              </a:rPr>
              <a:t> </a:t>
            </a:r>
            <a:r>
              <a:rPr lang="de" sz="4000">
                <a:solidFill>
                  <a:srgbClr val="D5A663"/>
                </a:solidFill>
                <a:latin typeface="Newsreader"/>
                <a:ea typeface="Newsreader"/>
                <a:cs typeface="Newsreader"/>
                <a:sym typeface="Newsreader"/>
              </a:rPr>
              <a:t>A/B Testing Mobile UI</a:t>
            </a:r>
            <a:endParaRPr sz="600">
              <a:solidFill>
                <a:srgbClr val="D5A663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71500" y="4775413"/>
            <a:ext cx="8001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de" sz="1100" u="none" cap="none" strike="noStrike">
                <a:solidFill>
                  <a:srgbClr val="D5A563"/>
                </a:solidFill>
                <a:latin typeface="Newsreader"/>
                <a:ea typeface="Newsreader"/>
                <a:cs typeface="Newsreader"/>
                <a:sym typeface="Newsreader"/>
              </a:rPr>
              <a:t>M. Riabchynskyi | H. Stuck | P. Sikder | J. Vidal</a:t>
            </a:r>
            <a:endParaRPr sz="1100">
              <a:solidFill>
                <a:srgbClr val="D5A563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25" y="1293625"/>
            <a:ext cx="3975600" cy="96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457325"/>
            <a:ext cx="378618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96250"/>
            <a:ext cx="3975600" cy="16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446550" y="567050"/>
            <a:ext cx="825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2B5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Context</a:t>
            </a:r>
            <a:endParaRPr sz="1300"/>
          </a:p>
        </p:txBody>
      </p:sp>
      <p:sp>
        <p:nvSpPr>
          <p:cNvPr id="67" name="Google Shape;67;p14"/>
          <p:cNvSpPr/>
          <p:nvPr/>
        </p:nvSpPr>
        <p:spPr>
          <a:xfrm>
            <a:off x="193942" y="187762"/>
            <a:ext cx="42900" cy="342900"/>
          </a:xfrm>
          <a:prstGeom prst="rect">
            <a:avLst/>
          </a:prstGeom>
          <a:solidFill>
            <a:srgbClr val="B291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709306" y="1315556"/>
            <a:ext cx="397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02B5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Vanguard:</a:t>
            </a:r>
            <a:endParaRPr sz="1600"/>
          </a:p>
        </p:txBody>
      </p:sp>
      <p:sp>
        <p:nvSpPr>
          <p:cNvPr id="69" name="Google Shape;69;p14"/>
          <p:cNvSpPr txBox="1"/>
          <p:nvPr/>
        </p:nvSpPr>
        <p:spPr>
          <a:xfrm>
            <a:off x="667906" y="1642046"/>
            <a:ext cx="40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Global investment</a:t>
            </a:r>
            <a:r>
              <a:rPr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management company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Digital mobile platform</a:t>
            </a:r>
            <a:r>
              <a:rPr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for managing investments 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70" name="Google Shape;7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9448" y="1109216"/>
            <a:ext cx="4215825" cy="31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713471" y="2674833"/>
            <a:ext cx="3393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de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Objective/Hypothesis:</a:t>
            </a:r>
            <a:endParaRPr b="1" i="1"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714375" y="3011164"/>
            <a:ext cx="3393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Does the new modern interface </a:t>
            </a:r>
            <a:r>
              <a:rPr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perform</a:t>
            </a:r>
            <a:r>
              <a:rPr i="1" lang="de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better than the </a:t>
            </a:r>
            <a:r>
              <a:rPr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old one? 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arenR"/>
            </a:pPr>
            <a:r>
              <a:rPr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Performance: Completion Rate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arenR"/>
            </a:pPr>
            <a:r>
              <a:rPr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Navigation: User Experience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54250" y="30250"/>
            <a:ext cx="83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de" sz="2900">
                <a:solidFill>
                  <a:srgbClr val="002B5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Vanguard Digital  Challenge Analysis</a:t>
            </a:r>
            <a:endParaRPr b="1" sz="2900">
              <a:solidFill>
                <a:srgbClr val="002B5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544783" y="4646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descr="image.png"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9025" y="524400"/>
            <a:ext cx="2312475" cy="43827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4142439" y="1168693"/>
            <a:ext cx="191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rgbClr val="002B5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concepts:</a:t>
            </a:r>
            <a:endParaRPr b="1" sz="1300"/>
          </a:p>
        </p:txBody>
      </p:sp>
      <p:sp>
        <p:nvSpPr>
          <p:cNvPr id="82" name="Google Shape;82;p15"/>
          <p:cNvSpPr txBox="1"/>
          <p:nvPr/>
        </p:nvSpPr>
        <p:spPr>
          <a:xfrm>
            <a:off x="4039050" y="1807700"/>
            <a:ext cx="2312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❖"/>
            </a:pPr>
            <a:r>
              <a:rPr b="1"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Friction:  </a:t>
            </a:r>
            <a:r>
              <a:rPr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Non - linear app navigation </a:t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b="1"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Backtracking: </a:t>
            </a:r>
            <a:r>
              <a:rPr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People who went back in the steps</a:t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b="1"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Repeated steps:  </a:t>
            </a:r>
            <a:r>
              <a:rPr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Repeating the same step more than once</a:t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83" name="Google Shape;8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460" y="729342"/>
            <a:ext cx="355586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5800" y="0"/>
            <a:ext cx="45858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2B5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Experiment Setup</a:t>
            </a:r>
            <a:endParaRPr b="1" sz="2000">
              <a:solidFill>
                <a:srgbClr val="002B5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60425" y="584075"/>
            <a:ext cx="3313800" cy="3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d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A/B Test:</a:t>
            </a:r>
            <a:endParaRPr b="1" i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Group_1: </a:t>
            </a:r>
            <a:r>
              <a:rPr b="1"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 </a:t>
            </a:r>
            <a:r>
              <a:rPr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→ Current interface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Group_2: </a:t>
            </a:r>
            <a:r>
              <a:rPr b="1"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Test </a:t>
            </a:r>
            <a:r>
              <a:rPr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→ Redesigned interface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d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Analysis Scope:</a:t>
            </a:r>
            <a:endParaRPr b="1" i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i="1"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Users that started the process</a:t>
            </a:r>
            <a:r>
              <a:rPr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d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Core Metrics:</a:t>
            </a:r>
            <a:endParaRPr b="1" i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Completion</a:t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Friction (backtracking, repeated steps) </a:t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image.png"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6300" y="524400"/>
            <a:ext cx="2312475" cy="4382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7205795" y="1168703"/>
            <a:ext cx="113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rgbClr val="002B5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KPI´S:</a:t>
            </a:r>
            <a:endParaRPr sz="1300"/>
          </a:p>
        </p:txBody>
      </p:sp>
      <p:sp>
        <p:nvSpPr>
          <p:cNvPr id="88" name="Google Shape;88;p15"/>
          <p:cNvSpPr txBox="1"/>
          <p:nvPr/>
        </p:nvSpPr>
        <p:spPr>
          <a:xfrm>
            <a:off x="6718775" y="1744824"/>
            <a:ext cx="2107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b="1"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Completion Rate: </a:t>
            </a:r>
            <a:endParaRPr b="1"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percentage of started sessions reaching confirm</a:t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b="1"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Friction Rate:</a:t>
            </a:r>
            <a:endParaRPr b="1"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percentage of started           sessions not following a clean journey</a:t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Char char="●"/>
            </a:pPr>
            <a:r>
              <a:rPr b="1"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Efficiency: </a:t>
            </a:r>
            <a:endParaRPr b="1"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Median completion time</a:t>
            </a:r>
            <a:endParaRPr i="1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89" name="Google Shape;8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3804" y="729360"/>
            <a:ext cx="355586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102900" y="90757"/>
            <a:ext cx="42900" cy="342900"/>
          </a:xfrm>
          <a:prstGeom prst="rect">
            <a:avLst/>
          </a:prstGeom>
          <a:solidFill>
            <a:srgbClr val="B291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/>
        </p:nvSpPr>
        <p:spPr>
          <a:xfrm>
            <a:off x="145800" y="965613"/>
            <a:ext cx="2499300" cy="30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Client base concentrated in adult segments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Largest segment: 50–59 (≈22%)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Younger users represent a small share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Gender are represented equally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Client value increases with   age, with 51–70 representing the largest share of total balance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01550" y="87350"/>
            <a:ext cx="825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2B5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Vanguard´s most desired Customer Profile</a:t>
            </a:r>
            <a:endParaRPr b="1" sz="2200">
              <a:solidFill>
                <a:srgbClr val="002B5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02900" y="69800"/>
            <a:ext cx="42900" cy="342900"/>
          </a:xfrm>
          <a:prstGeom prst="rect">
            <a:avLst/>
          </a:prstGeom>
          <a:solidFill>
            <a:srgbClr val="B291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0025" y="823075"/>
            <a:ext cx="6401174" cy="34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301550" y="87350"/>
            <a:ext cx="825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2B5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First results</a:t>
            </a:r>
            <a:endParaRPr b="1" sz="2200">
              <a:solidFill>
                <a:srgbClr val="002B5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102900" y="69800"/>
            <a:ext cx="42900" cy="342900"/>
          </a:xfrm>
          <a:prstGeom prst="rect">
            <a:avLst/>
          </a:prstGeom>
          <a:solidFill>
            <a:srgbClr val="B291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102900" y="875700"/>
            <a:ext cx="2807700" cy="3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Where does the improvement come from?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Completion increases in Test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Most of the uplift comes from friction-heavy journeys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Median Completion Time: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Control: 4.52 min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Test: 3.95 min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Faster ≠ simpler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About ~68–69% of sessions involve friction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0600" y="588650"/>
            <a:ext cx="5928451" cy="391197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>
            <a:off x="1038000" y="2704375"/>
            <a:ext cx="1409700" cy="530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301550" y="87350"/>
            <a:ext cx="825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2B5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Navigation friction</a:t>
            </a:r>
            <a:endParaRPr b="1" sz="2200">
              <a:solidFill>
                <a:srgbClr val="002B5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102900" y="69800"/>
            <a:ext cx="42900" cy="342900"/>
          </a:xfrm>
          <a:prstGeom prst="rect">
            <a:avLst/>
          </a:prstGeom>
          <a:solidFill>
            <a:srgbClr val="B291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301550" y="666950"/>
            <a:ext cx="2477700" cy="3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What type of friction increased?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Backtracking increased by +9.20 pp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Repeated steps increased by +9.55 pp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new interface increased non-linear navigation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1281" y="578450"/>
            <a:ext cx="6190319" cy="408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301550" y="87350"/>
            <a:ext cx="825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2B5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Friction impact by age</a:t>
            </a:r>
            <a:endParaRPr b="1" sz="2200">
              <a:solidFill>
                <a:srgbClr val="002B5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102900" y="69800"/>
            <a:ext cx="42900" cy="342900"/>
          </a:xfrm>
          <a:prstGeom prst="rect">
            <a:avLst/>
          </a:prstGeom>
          <a:solidFill>
            <a:srgbClr val="B291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145800" y="1116875"/>
            <a:ext cx="2621700" cy="17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Friction Impact by Age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Friction increases with age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Older users are more affected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High-value clients are more exposed to friction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2400" y="1044050"/>
            <a:ext cx="6278751" cy="33772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/>
          <p:nvPr/>
        </p:nvSpPr>
        <p:spPr>
          <a:xfrm>
            <a:off x="6487350" y="1485500"/>
            <a:ext cx="2533800" cy="2793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301550" y="87350"/>
            <a:ext cx="825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2B5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Risk</a:t>
            </a:r>
            <a:endParaRPr b="1" sz="2200">
              <a:solidFill>
                <a:srgbClr val="002B5C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102900" y="69800"/>
            <a:ext cx="42900" cy="342900"/>
          </a:xfrm>
          <a:prstGeom prst="rect">
            <a:avLst/>
          </a:prstGeom>
          <a:solidFill>
            <a:srgbClr val="B291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217200" y="844763"/>
            <a:ext cx="3287100" cy="26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Friction tends to increase with user age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High-value clients experience a disproportionate impact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Navigation complexity is higher in the test group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7" name="Google Shape;137;p20" title="ChatGPT Image 5 may 2026, 18_16_33.png"/>
          <p:cNvPicPr preferRelativeResize="0"/>
          <p:nvPr/>
        </p:nvPicPr>
        <p:blipFill rotWithShape="1">
          <a:blip r:embed="rId3">
            <a:alphaModFix/>
          </a:blip>
          <a:srcRect b="0" l="10961" r="0" t="0"/>
          <a:stretch/>
        </p:blipFill>
        <p:spPr>
          <a:xfrm>
            <a:off x="3646450" y="321350"/>
            <a:ext cx="5270650" cy="37009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217200" y="3687825"/>
            <a:ext cx="81576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new version may negatively impact Vanguard’s most valuable customers, posing a significant risk to retention and satisfaction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568914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336226" y="195875"/>
            <a:ext cx="357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Recommendations </a:t>
            </a:r>
            <a:endParaRPr b="1" sz="2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199356" y="178313"/>
            <a:ext cx="42900" cy="342900"/>
          </a:xfrm>
          <a:prstGeom prst="rect">
            <a:avLst/>
          </a:prstGeom>
          <a:solidFill>
            <a:srgbClr val="B291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252775" y="969004"/>
            <a:ext cx="4415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Do not proceed with the rollout of the current interface in its present form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Next Steps: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Conduct a detailed analysis of friction points across user journeys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Identify and prioritize the most problematic interaction steps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Redesign and streamline navigation before any broader deployment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5000483" y="220818"/>
            <a:ext cx="389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takeaway</a:t>
            </a:r>
            <a:endParaRPr b="1" sz="22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4691875" y="1015802"/>
            <a:ext cx="4152900" cy="3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Higher completion ≠ better experience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Completion rates have improved, but significant friction remains in the user experience and is not at an acceptable level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lang="de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Reducing user friction is a prerequisite for launch readiness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4888149" y="178300"/>
            <a:ext cx="36900" cy="342900"/>
          </a:xfrm>
          <a:prstGeom prst="rect">
            <a:avLst/>
          </a:prstGeom>
          <a:solidFill>
            <a:srgbClr val="B291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714375" y="428625"/>
            <a:ext cx="8250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400">
                <a:solidFill>
                  <a:srgbClr val="002B5C"/>
                </a:solidFill>
                <a:latin typeface="Inter"/>
                <a:ea typeface="Inter"/>
                <a:cs typeface="Inter"/>
                <a:sym typeface="Inter"/>
              </a:rPr>
              <a:t>THANK YOU FOR YOUR ATTENTION! </a:t>
            </a:r>
            <a:endParaRPr sz="2400">
              <a:solidFill>
                <a:srgbClr val="002B5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2B5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002B5C"/>
                </a:solidFill>
                <a:latin typeface="Inter"/>
                <a:ea typeface="Inter"/>
                <a:cs typeface="Inter"/>
                <a:sym typeface="Inter"/>
              </a:rPr>
              <a:t>Are there any questions?</a:t>
            </a:r>
            <a:endParaRPr sz="2000">
              <a:solidFill>
                <a:srgbClr val="002B5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571500" y="1674644"/>
            <a:ext cx="800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Team: </a:t>
            </a:r>
            <a:r>
              <a:rPr b="0" i="0" lang="de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M. Riabchynskyi | H. Stuck | P. Sikder | J. Vidal</a:t>
            </a:r>
            <a:endParaRPr sz="1200"/>
          </a:p>
        </p:txBody>
      </p:sp>
      <p:sp>
        <p:nvSpPr>
          <p:cNvPr id="157" name="Google Shape;157;p22"/>
          <p:cNvSpPr txBox="1"/>
          <p:nvPr/>
        </p:nvSpPr>
        <p:spPr>
          <a:xfrm>
            <a:off x="571500" y="2120275"/>
            <a:ext cx="8001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Github Repo:</a:t>
            </a:r>
            <a:endParaRPr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de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de" sz="120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Repo </a:t>
            </a:r>
            <a:r>
              <a:rPr lang="de" sz="12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Link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latin typeface="Inter"/>
                <a:ea typeface="Inter"/>
                <a:cs typeface="Inter"/>
                <a:sym typeface="Inter"/>
              </a:rPr>
              <a:t>Tableau Dashboard: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latin typeface="Inter"/>
                <a:ea typeface="Inter"/>
                <a:cs typeface="Inter"/>
                <a:sym typeface="Inter"/>
              </a:rPr>
              <a:t>KPI: </a:t>
            </a:r>
            <a:r>
              <a:rPr lang="de" sz="12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Link 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latin typeface="Inter"/>
                <a:ea typeface="Inter"/>
                <a:cs typeface="Inter"/>
                <a:sym typeface="Inter"/>
              </a:rPr>
              <a:t>Client KPI: </a:t>
            </a:r>
            <a:r>
              <a:rPr lang="de" sz="12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Link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latin typeface="Inter"/>
                <a:ea typeface="Inter"/>
                <a:cs typeface="Inter"/>
                <a:sym typeface="Inter"/>
              </a:rPr>
              <a:t>Completion/Friction: </a:t>
            </a:r>
            <a:r>
              <a:rPr lang="de" sz="12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Link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latin typeface="Inter"/>
                <a:ea typeface="Inter"/>
                <a:cs typeface="Inter"/>
                <a:sym typeface="Inter"/>
              </a:rPr>
              <a:t>Kanban: </a:t>
            </a:r>
            <a:r>
              <a:rPr lang="de" sz="12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7"/>
              </a:rPr>
              <a:t>Link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8" name="Google Shape;158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3914570" y="2321397"/>
            <a:ext cx="321475" cy="3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